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038"/>
          </a:solidFill>
          <a:ln w="12700">
            <a:solidFill>
              <a:srgbClr val="1A0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006E">
              <a:alpha val="82000"/>
            </a:srgbClr>
          </a:solidFill>
          <a:ln w="12700">
            <a:solidFill>
              <a:srgbClr val="3200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594360"/>
            <a:ext cx="2743200" cy="2743200"/>
          </a:xfrm>
          <a:prstGeom prst="arc">
            <a:avLst/>
          </a:prstGeom>
          <a:solidFill>
            <a:srgbClr val="2AD2C9">
              <a:alpha val="14000"/>
            </a:srgbClr>
          </a:solidFill>
          <a:ln w="12700">
            <a:solidFill>
              <a:srgbClr val="2AD2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144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904" y="12344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2208" y="15544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68512" y="18745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14816" y="21945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25146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07424" y="28346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53728" y="31546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00032" y="34747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46336" y="37947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41148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38944" y="44348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85248" y="47548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31552" y="50749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77856" y="53949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0" y="57150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70464" y="60350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16768" y="63550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63072" y="66751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09376" y="69951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0" y="73152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01984" y="76352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48288" y="79552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94592" y="82753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40896" y="85953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89154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365760" y="5870448"/>
            <a:ext cx="12984480" cy="411480"/>
          </a:xfrm>
          <a:prstGeom prst="parallelogram">
            <a:avLst/>
          </a:prstGeom>
          <a:solidFill>
            <a:srgbClr val="B7A57A"/>
          </a:solidFill>
          <a:ln w="12700">
            <a:solidFill>
              <a:srgbClr val="B7A57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7A57A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1325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FE9E4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TEMPLATE DECK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182880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CS4Env LLMoxie</a:t>
            </a:r>
            <a:endParaRPr lang="en-US" sz="5000" dirty="0"/>
          </a:p>
        </p:txBody>
      </p:sp>
      <p:sp>
        <p:nvSpPr>
          <p:cNvPr id="36" name="Shape 34"/>
          <p:cNvSpPr/>
          <p:nvPr/>
        </p:nvSpPr>
        <p:spPr>
          <a:xfrm>
            <a:off x="566928" y="3090672"/>
            <a:ext cx="1005840" cy="73152"/>
          </a:xfrm>
          <a:prstGeom prst="parallelogram">
            <a:avLst/>
          </a:prstGeom>
          <a:solidFill>
            <a:srgbClr val="2AD2C9"/>
          </a:solidFill>
          <a:ln w="12700">
            <a:solidFill>
              <a:srgbClr val="2AD2C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429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E3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Editable SSEC-style PowerPoint template deck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A0038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0038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Three-Column Overview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645920"/>
            <a:ext cx="3246120" cy="3520440"/>
          </a:xfrm>
          <a:prstGeom prst="roundRect">
            <a:avLst>
              <a:gd name="adj" fmla="val 1127"/>
            </a:avLst>
          </a:prstGeom>
          <a:solidFill>
            <a:srgbClr val="F0ECF7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1645920"/>
            <a:ext cx="324612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259836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CARD / TOPIC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62272" y="1645920"/>
            <a:ext cx="3246120" cy="3520440"/>
          </a:xfrm>
          <a:prstGeom prst="roundRect">
            <a:avLst>
              <a:gd name="adj" fmla="val 1127"/>
            </a:avLst>
          </a:prstGeom>
          <a:solidFill>
            <a:srgbClr val="F9F7F2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62272" y="1645920"/>
            <a:ext cx="3246120" cy="64008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3259836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CARD / TOPIC 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74736" y="1645920"/>
            <a:ext cx="3246120" cy="3520440"/>
          </a:xfrm>
          <a:prstGeom prst="roundRect">
            <a:avLst>
              <a:gd name="adj" fmla="val 1127"/>
            </a:avLst>
          </a:prstGeom>
          <a:solidFill>
            <a:srgbClr val="EFFCFC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4736" y="1645920"/>
            <a:ext cx="3246120" cy="64008"/>
          </a:xfrm>
          <a:prstGeom prst="rect">
            <a:avLst/>
          </a:prstGeom>
          <a:solidFill>
            <a:srgbClr val="2AD2C9"/>
          </a:solidFill>
          <a:ln w="12700">
            <a:solidFill>
              <a:srgbClr val="2AD2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3259836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CARD / TOPIC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038"/>
          </a:solidFill>
          <a:ln w="12700">
            <a:solidFill>
              <a:srgbClr val="1A0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006E">
              <a:alpha val="82000"/>
            </a:srgbClr>
          </a:solidFill>
          <a:ln w="12700">
            <a:solidFill>
              <a:srgbClr val="3200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594360"/>
            <a:ext cx="2743200" cy="2743200"/>
          </a:xfrm>
          <a:prstGeom prst="arc">
            <a:avLst/>
          </a:prstGeom>
          <a:solidFill>
            <a:srgbClr val="2AD2C9">
              <a:alpha val="14000"/>
            </a:srgbClr>
          </a:solidFill>
          <a:ln w="12700">
            <a:solidFill>
              <a:srgbClr val="2AD2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144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904" y="12344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2208" y="15544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68512" y="18745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14816" y="21945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25146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07424" y="28346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53728" y="31546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00032" y="34747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46336" y="37947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41148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38944" y="44348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85248" y="47548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31552" y="50749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77856" y="53949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0" y="57150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70464" y="60350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16768" y="63550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63072" y="66751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09376" y="69951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0" y="73152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01984" y="76352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48288" y="79552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94592" y="82753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40896" y="85953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89154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365760" y="5870448"/>
            <a:ext cx="12984480" cy="411480"/>
          </a:xfrm>
          <a:prstGeom prst="parallelogram">
            <a:avLst/>
          </a:prstGeom>
          <a:solidFill>
            <a:srgbClr val="B7A57A"/>
          </a:solidFill>
          <a:ln w="12700">
            <a:solidFill>
              <a:srgbClr val="B7A57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7A57A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1325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FE9E4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182880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Section Divider</a:t>
            </a:r>
            <a:endParaRPr lang="en-US" sz="5000" dirty="0"/>
          </a:p>
        </p:txBody>
      </p:sp>
      <p:sp>
        <p:nvSpPr>
          <p:cNvPr id="36" name="Shape 34"/>
          <p:cNvSpPr/>
          <p:nvPr/>
        </p:nvSpPr>
        <p:spPr>
          <a:xfrm>
            <a:off x="566928" y="3090672"/>
            <a:ext cx="1005840" cy="73152"/>
          </a:xfrm>
          <a:prstGeom prst="parallelogram">
            <a:avLst/>
          </a:prstGeom>
          <a:solidFill>
            <a:srgbClr val="2AD2C9"/>
          </a:solidFill>
          <a:ln w="12700">
            <a:solidFill>
              <a:srgbClr val="2AD2C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429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E3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this before a major topic shift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A0038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0038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04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Two-Column Slide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600200"/>
            <a:ext cx="480060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1600200"/>
            <a:ext cx="480060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511296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TEXT / BULLETS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1600200"/>
            <a:ext cx="4983480" cy="4114800"/>
          </a:xfrm>
          <a:prstGeom prst="roundRect">
            <a:avLst>
              <a:gd name="adj" fmla="val 889"/>
            </a:avLst>
          </a:prstGeom>
          <a:solidFill>
            <a:srgbClr val="F6F7F8"/>
          </a:solidFill>
          <a:ln w="13970">
            <a:solidFill>
              <a:srgbClr val="C2C6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3511296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IMAGE PLACEHOLDER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1828800"/>
            <a:ext cx="4526280" cy="3657600"/>
          </a:xfrm>
          <a:prstGeom prst="line">
            <a:avLst/>
          </a:prstGeom>
          <a:noFill/>
          <a:ln w="10160">
            <a:solidFill>
              <a:srgbClr val="C2C6CA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55680" y="1828800"/>
            <a:ext cx="-4526280" cy="3657600"/>
          </a:xfrm>
          <a:prstGeom prst="line">
            <a:avLst/>
          </a:prstGeom>
          <a:noFill/>
          <a:ln w="10160">
            <a:solidFill>
              <a:srgbClr val="C2C6C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B7A57A">
              <a:alpha val="12000"/>
            </a:srgbClr>
          </a:solidFill>
          <a:ln w="12700">
            <a:solidFill>
              <a:srgbClr val="B7A5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05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Large Figure + Notes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508760"/>
            <a:ext cx="6675120" cy="4343400"/>
          </a:xfrm>
          <a:prstGeom prst="roundRect">
            <a:avLst>
              <a:gd name="adj" fmla="val 842"/>
            </a:avLst>
          </a:prstGeom>
          <a:solidFill>
            <a:srgbClr val="F6F7F8"/>
          </a:solidFill>
          <a:ln w="13970">
            <a:solidFill>
              <a:srgbClr val="C2C6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34156"/>
            <a:ext cx="6345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LARGE FIGURE PLACEHOLDER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" y="1737360"/>
            <a:ext cx="6217920" cy="3886200"/>
          </a:xfrm>
          <a:prstGeom prst="line">
            <a:avLst/>
          </a:prstGeom>
          <a:noFill/>
          <a:ln w="10160">
            <a:solidFill>
              <a:srgbClr val="C2C6CA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96328" y="1737360"/>
            <a:ext cx="-6217920" cy="3886200"/>
          </a:xfrm>
          <a:prstGeom prst="line">
            <a:avLst/>
          </a:prstGeom>
          <a:noFill/>
          <a:ln w="10160">
            <a:solidFill>
              <a:srgbClr val="C2C6CA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9560" y="1508760"/>
            <a:ext cx="347472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0" y="1508760"/>
            <a:ext cx="347472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74152" y="193395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09560" y="2788920"/>
            <a:ext cx="347472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2788920"/>
            <a:ext cx="3474720" cy="64008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74152" y="321411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METHOD / CONTEXT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09560" y="4069080"/>
            <a:ext cx="347472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4069080"/>
            <a:ext cx="3474720" cy="64008"/>
          </a:xfrm>
          <a:prstGeom prst="rect">
            <a:avLst/>
          </a:prstGeom>
          <a:solidFill>
            <a:srgbClr val="2AD2C9"/>
          </a:solidFill>
          <a:ln w="12700">
            <a:solidFill>
              <a:srgbClr val="2AD2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74152" y="481431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NOTES / CAVEATS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06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Four-Card Grid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572768"/>
            <a:ext cx="4892040" cy="1572768"/>
          </a:xfrm>
          <a:prstGeom prst="roundRect">
            <a:avLst>
              <a:gd name="adj" fmla="val 2326"/>
            </a:avLst>
          </a:prstGeom>
          <a:solidFill>
            <a:srgbClr val="F0ECF7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1572768"/>
            <a:ext cx="489204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212848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CARD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44768" y="1572768"/>
            <a:ext cx="4892040" cy="1572768"/>
          </a:xfrm>
          <a:prstGeom prst="roundRect">
            <a:avLst>
              <a:gd name="adj" fmla="val 2326"/>
            </a:avLst>
          </a:prstGeom>
          <a:solidFill>
            <a:srgbClr val="F9F7F2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1572768"/>
            <a:ext cx="4892040" cy="64008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212848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CARD 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3657600"/>
            <a:ext cx="4892040" cy="1572768"/>
          </a:xfrm>
          <a:prstGeom prst="roundRect">
            <a:avLst>
              <a:gd name="adj" fmla="val 2326"/>
            </a:avLst>
          </a:prstGeom>
          <a:solidFill>
            <a:srgbClr val="EFFCFC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3657600"/>
            <a:ext cx="4892040" cy="64008"/>
          </a:xfrm>
          <a:prstGeom prst="rect">
            <a:avLst/>
          </a:prstGeom>
          <a:solidFill>
            <a:srgbClr val="2AD2C9"/>
          </a:solidFill>
          <a:ln w="12700">
            <a:solidFill>
              <a:srgbClr val="2AD2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297680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CARD 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44768" y="3657600"/>
            <a:ext cx="4892040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4768" y="3657600"/>
            <a:ext cx="489204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297680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CARD 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B7A57A">
              <a:alpha val="12000"/>
            </a:srgbClr>
          </a:solidFill>
          <a:ln w="12700">
            <a:solidFill>
              <a:srgbClr val="B7A5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07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Quote / Framing Slide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1828800"/>
            <a:ext cx="82296" cy="2743200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1872" y="1783080"/>
            <a:ext cx="9326880" cy="2103120"/>
          </a:xfrm>
          <a:prstGeom prst="roundRect">
            <a:avLst>
              <a:gd name="adj" fmla="val 1739"/>
            </a:avLst>
          </a:prstGeom>
          <a:solidFill>
            <a:srgbClr val="F9F7F2"/>
          </a:solidFill>
          <a:ln w="13970">
            <a:solidFill>
              <a:srgbClr val="E8E3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26464" y="2688336"/>
            <a:ext cx="8997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QUOTE OR PROMPT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61872" y="4160520"/>
            <a:ext cx="47548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E8E3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26464" y="4311396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ATTRIBUTION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08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Timeline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246120"/>
            <a:ext cx="9875520" cy="0"/>
          </a:xfrm>
          <a:prstGeom prst="line">
            <a:avLst/>
          </a:prstGeom>
          <a:noFill/>
          <a:ln w="26670">
            <a:solidFill>
              <a:srgbClr val="B7A5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2240280"/>
            <a:ext cx="1078992" cy="256032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29971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STEP 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97280" y="3127248"/>
            <a:ext cx="182880" cy="18288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" y="3657600"/>
            <a:ext cx="138988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014216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MILESTONE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72968" y="2240280"/>
            <a:ext cx="1078992" cy="256032"/>
          </a:xfrm>
          <a:prstGeom prst="parallelogram">
            <a:avLst/>
          </a:prstGeom>
          <a:solidFill>
            <a:srgbClr val="85754D"/>
          </a:solidFill>
          <a:ln w="12700">
            <a:solidFill>
              <a:srgbClr val="8575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29971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STEP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429000" y="3127248"/>
            <a:ext cx="182880" cy="182880"/>
          </a:xfrm>
          <a:prstGeom prst="ellipse">
            <a:avLst/>
          </a:prstGeom>
          <a:solidFill>
            <a:srgbClr val="8575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25496" y="3657600"/>
            <a:ext cx="138988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0088" y="4014216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04688" y="2240280"/>
            <a:ext cx="1078992" cy="256032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29971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STEP 3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60720" y="3127248"/>
            <a:ext cx="182880" cy="18288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57216" y="3657600"/>
            <a:ext cx="138988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4014216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MILESTONE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36408" y="2240280"/>
            <a:ext cx="1078992" cy="256032"/>
          </a:xfrm>
          <a:prstGeom prst="parallelogram">
            <a:avLst/>
          </a:prstGeom>
          <a:solidFill>
            <a:srgbClr val="85754D"/>
          </a:solidFill>
          <a:ln w="12700">
            <a:solidFill>
              <a:srgbClr val="85754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9560" y="229971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STEP 4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092440" y="3127248"/>
            <a:ext cx="182880" cy="182880"/>
          </a:xfrm>
          <a:prstGeom prst="ellipse">
            <a:avLst/>
          </a:prstGeom>
          <a:solidFill>
            <a:srgbClr val="8575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88936" y="3657600"/>
            <a:ext cx="138988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53528" y="4014216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MILESTONE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168128" y="2240280"/>
            <a:ext cx="1078992" cy="256032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41280" y="229971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STEP 5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424160" y="3127248"/>
            <a:ext cx="182880" cy="18288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20656" y="3657600"/>
            <a:ext cx="138988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85248" y="4014216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MILESTONE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B7A57A">
              <a:alpha val="12000"/>
            </a:srgbClr>
          </a:solidFill>
          <a:ln w="12700">
            <a:solidFill>
              <a:srgbClr val="B7A5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09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Comparison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554480"/>
            <a:ext cx="4983480" cy="4251960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1554480"/>
            <a:ext cx="498348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534156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LEFT OPTION / BEFORE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1554480"/>
            <a:ext cx="4983480" cy="4251960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554480"/>
            <a:ext cx="4983480" cy="64008"/>
          </a:xfrm>
          <a:prstGeom prst="rect">
            <a:avLst/>
          </a:prstGeom>
          <a:solidFill>
            <a:srgbClr val="2AD2C9"/>
          </a:solidFill>
          <a:ln w="12700">
            <a:solidFill>
              <a:srgbClr val="2AD2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3534156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RIGHT OPTION / AFTER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40680" y="3246120"/>
            <a:ext cx="1078992" cy="256032"/>
          </a:xfrm>
          <a:prstGeom prst="parallelogram">
            <a:avLst/>
          </a:prstGeom>
          <a:solidFill>
            <a:srgbClr val="85754D"/>
          </a:solidFill>
          <a:ln w="12700">
            <a:solidFill>
              <a:srgbClr val="8575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330555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VS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Table / Matrix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508760"/>
            <a:ext cx="10625328" cy="64008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1719072"/>
            <a:ext cx="2382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COLUMN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43300" y="1719072"/>
            <a:ext cx="2382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COLUMN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1719072"/>
            <a:ext cx="2382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COLUMN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55964" y="1719072"/>
            <a:ext cx="2382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COLUMN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" y="2148840"/>
            <a:ext cx="1062532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5D8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2788920"/>
            <a:ext cx="10625328" cy="640080"/>
          </a:xfrm>
          <a:prstGeom prst="rect">
            <a:avLst/>
          </a:prstGeom>
          <a:solidFill>
            <a:srgbClr val="F9F7F2"/>
          </a:solidFill>
          <a:ln w="8890">
            <a:solidFill>
              <a:srgbClr val="D5D8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3429000"/>
            <a:ext cx="1062532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5D8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4069080"/>
            <a:ext cx="10625328" cy="640080"/>
          </a:xfrm>
          <a:prstGeom prst="rect">
            <a:avLst/>
          </a:prstGeom>
          <a:solidFill>
            <a:srgbClr val="F9F7F2"/>
          </a:solidFill>
          <a:ln w="8890">
            <a:solidFill>
              <a:srgbClr val="D5D8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4709160"/>
            <a:ext cx="1062532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5D8D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Process Flow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2057400"/>
            <a:ext cx="210312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2057400"/>
            <a:ext cx="210312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284835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PROCESS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35808" y="2999232"/>
            <a:ext cx="420624" cy="0"/>
          </a:xfrm>
          <a:prstGeom prst="line">
            <a:avLst/>
          </a:prstGeom>
          <a:noFill/>
          <a:ln w="17780">
            <a:solidFill>
              <a:srgbClr val="85754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11880" y="2057400"/>
            <a:ext cx="210312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2057400"/>
            <a:ext cx="2103120" cy="64008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284835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PROCESS 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24728" y="2999232"/>
            <a:ext cx="420624" cy="0"/>
          </a:xfrm>
          <a:prstGeom prst="line">
            <a:avLst/>
          </a:prstGeom>
          <a:noFill/>
          <a:ln w="17780">
            <a:solidFill>
              <a:srgbClr val="85754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00800" y="2057400"/>
            <a:ext cx="210312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2057400"/>
            <a:ext cx="2103120" cy="64008"/>
          </a:xfrm>
          <a:prstGeom prst="rect">
            <a:avLst/>
          </a:prstGeom>
          <a:solidFill>
            <a:srgbClr val="2AD2C9"/>
          </a:solidFill>
          <a:ln w="12700">
            <a:solidFill>
              <a:srgbClr val="2AD2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84835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PROCESS 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13648" y="2999232"/>
            <a:ext cx="420624" cy="0"/>
          </a:xfrm>
          <a:prstGeom prst="line">
            <a:avLst/>
          </a:prstGeom>
          <a:noFill/>
          <a:ln w="17780">
            <a:solidFill>
              <a:srgbClr val="85754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89720" y="2057400"/>
            <a:ext cx="2103120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89720" y="2057400"/>
            <a:ext cx="210312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2848356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PROCESS 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4846320"/>
            <a:ext cx="9235440" cy="594360"/>
          </a:xfrm>
          <a:prstGeom prst="roundRect">
            <a:avLst>
              <a:gd name="adj" fmla="val 6154"/>
            </a:avLst>
          </a:prstGeom>
          <a:solidFill>
            <a:srgbClr val="F0ECF7"/>
          </a:solidFill>
          <a:ln w="13970">
            <a:solidFill>
              <a:srgbClr val="C5B4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27632" y="4997196"/>
            <a:ext cx="8906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OPTIONAL SUMMARY / HANDOFF LINE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B7A57A">
              <a:alpha val="12000"/>
            </a:srgbClr>
          </a:solidFill>
          <a:ln w="12700">
            <a:solidFill>
              <a:srgbClr val="B7A5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Stat Callouts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##</a:t>
            </a:r>
            <a:endParaRPr lang="en-US" sz="5800" dirty="0"/>
          </a:p>
        </p:txBody>
      </p:sp>
      <p:sp>
        <p:nvSpPr>
          <p:cNvPr id="24" name="Shape 22"/>
          <p:cNvSpPr/>
          <p:nvPr/>
        </p:nvSpPr>
        <p:spPr>
          <a:xfrm>
            <a:off x="960120" y="2971800"/>
            <a:ext cx="25603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3970">
            <a:solidFill>
              <a:srgbClr val="E8E3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2971800"/>
            <a:ext cx="256032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348843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STAT LABEL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##</a:t>
            </a:r>
            <a:endParaRPr lang="en-US" sz="5800" dirty="0"/>
          </a:p>
        </p:txBody>
      </p:sp>
      <p:sp>
        <p:nvSpPr>
          <p:cNvPr id="28" name="Shape 26"/>
          <p:cNvSpPr/>
          <p:nvPr/>
        </p:nvSpPr>
        <p:spPr>
          <a:xfrm>
            <a:off x="4480560" y="2971800"/>
            <a:ext cx="25603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3970">
            <a:solidFill>
              <a:srgbClr val="E8E3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2971800"/>
            <a:ext cx="2560320" cy="64008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48843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STAT LABEL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##</a:t>
            </a:r>
            <a:endParaRPr lang="en-US" sz="5800" dirty="0"/>
          </a:p>
        </p:txBody>
      </p:sp>
      <p:sp>
        <p:nvSpPr>
          <p:cNvPr id="32" name="Shape 30"/>
          <p:cNvSpPr/>
          <p:nvPr/>
        </p:nvSpPr>
        <p:spPr>
          <a:xfrm>
            <a:off x="8001000" y="2971800"/>
            <a:ext cx="25603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3970">
            <a:solidFill>
              <a:srgbClr val="E8E3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2971800"/>
            <a:ext cx="2560320" cy="64008"/>
          </a:xfrm>
          <a:prstGeom prst="rect">
            <a:avLst/>
          </a:prstGeom>
          <a:solidFill>
            <a:srgbClr val="2AD2C9"/>
          </a:solidFill>
          <a:ln w="12700">
            <a:solidFill>
              <a:srgbClr val="2AD2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65592" y="348843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STAT LABEL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Full-Width Figure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417320"/>
            <a:ext cx="10625328" cy="4526280"/>
          </a:xfrm>
          <a:prstGeom prst="roundRect">
            <a:avLst>
              <a:gd name="adj" fmla="val 808"/>
            </a:avLst>
          </a:prstGeom>
          <a:solidFill>
            <a:srgbClr val="F6F7F8"/>
          </a:solidFill>
          <a:ln w="13970">
            <a:solidFill>
              <a:srgbClr val="C2C6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34156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FULL-WIDTH SCREENSHOT / DIAGRAM PLACEHOLDER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" y="1645920"/>
            <a:ext cx="10168128" cy="4069080"/>
          </a:xfrm>
          <a:prstGeom prst="line">
            <a:avLst/>
          </a:prstGeom>
          <a:noFill/>
          <a:ln w="10160">
            <a:solidFill>
              <a:srgbClr val="C2C6CA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46536" y="1645920"/>
            <a:ext cx="-10168128" cy="4069080"/>
          </a:xfrm>
          <a:prstGeom prst="line">
            <a:avLst/>
          </a:prstGeom>
          <a:noFill/>
          <a:ln w="10160">
            <a:solidFill>
              <a:srgbClr val="C2C6C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7A57A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5B4E3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5B4E3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AD2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 / Demo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600200"/>
            <a:ext cx="10698480" cy="4343400"/>
          </a:xfrm>
          <a:prstGeom prst="rect">
            <a:avLst/>
          </a:prstGeom>
          <a:solidFill>
            <a:srgbClr val="0D0010"/>
          </a:solidFill>
          <a:ln w="13970">
            <a:solidFill>
              <a:srgbClr val="2AD2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202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E9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command or code placeholder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A5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output placeholder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B7A57A">
              <a:alpha val="12000"/>
            </a:srgbClr>
          </a:solidFill>
          <a:ln w="12700">
            <a:solidFill>
              <a:srgbClr val="B7A5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2x2 Content Grid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572768"/>
            <a:ext cx="48920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E8E3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1572768"/>
            <a:ext cx="489204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13512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MODULE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44768" y="1572768"/>
            <a:ext cx="48920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E8E3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1572768"/>
            <a:ext cx="4892040" cy="64008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13512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3657600"/>
            <a:ext cx="48920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E8E3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3657600"/>
            <a:ext cx="4892040" cy="64008"/>
          </a:xfrm>
          <a:prstGeom prst="rect">
            <a:avLst/>
          </a:prstGeom>
          <a:solidFill>
            <a:srgbClr val="2AD2C9"/>
          </a:solidFill>
          <a:ln w="12700">
            <a:solidFill>
              <a:srgbClr val="2AD2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219956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44768" y="3657600"/>
            <a:ext cx="48920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E8E3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4768" y="3657600"/>
            <a:ext cx="489204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219956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MODULE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Risk / Mitigation Matrix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554480"/>
            <a:ext cx="4983480" cy="1828800"/>
          </a:xfrm>
          <a:prstGeom prst="roundRect">
            <a:avLst>
              <a:gd name="adj" fmla="val 2000"/>
            </a:avLst>
          </a:prstGeom>
          <a:solidFill>
            <a:srgbClr val="F0ECF7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1554480"/>
            <a:ext cx="498348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322576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RISK / PROBLEM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1554480"/>
            <a:ext cx="4983480" cy="1828800"/>
          </a:xfrm>
          <a:prstGeom prst="roundRect">
            <a:avLst>
              <a:gd name="adj" fmla="val 2000"/>
            </a:avLst>
          </a:prstGeom>
          <a:solidFill>
            <a:srgbClr val="EFFCFC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554480"/>
            <a:ext cx="4983480" cy="64008"/>
          </a:xfrm>
          <a:prstGeom prst="rect">
            <a:avLst/>
          </a:prstGeom>
          <a:solidFill>
            <a:srgbClr val="2AD2C9"/>
          </a:solidFill>
          <a:ln w="12700">
            <a:solidFill>
              <a:srgbClr val="2AD2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2322576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MITIGATION / RESPONSE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3840480"/>
            <a:ext cx="4983480" cy="1508760"/>
          </a:xfrm>
          <a:prstGeom prst="roundRect">
            <a:avLst>
              <a:gd name="adj" fmla="val 2424"/>
            </a:avLst>
          </a:prstGeom>
          <a:solidFill>
            <a:srgbClr val="F9F7F2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3840480"/>
            <a:ext cx="4983480" cy="64008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448556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3840480"/>
            <a:ext cx="498348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840480"/>
            <a:ext cx="4983480" cy="64008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4448556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NEXT ACTION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Layered Stack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4434840"/>
            <a:ext cx="8503920" cy="566928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46085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FOUNDATION LAYER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40280" y="3703320"/>
            <a:ext cx="7680960" cy="566928"/>
          </a:xfrm>
          <a:prstGeom prst="parallelogram">
            <a:avLst/>
          </a:prstGeom>
          <a:solidFill>
            <a:srgbClr val="85754D"/>
          </a:solidFill>
          <a:ln w="12700">
            <a:solidFill>
              <a:srgbClr val="8575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3877056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MIDDLE LAYER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2971800"/>
            <a:ext cx="6858000" cy="566928"/>
          </a:xfrm>
          <a:prstGeom prst="parallelogram">
            <a:avLst/>
          </a:prstGeom>
          <a:solidFill>
            <a:srgbClr val="1FB8B0"/>
          </a:solidFill>
          <a:ln w="12700">
            <a:solidFill>
              <a:srgbClr val="1FB8B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3145536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63240" y="2240280"/>
            <a:ext cx="6035040" cy="566928"/>
          </a:xfrm>
          <a:prstGeom prst="parallelogram">
            <a:avLst/>
          </a:prstGeom>
          <a:solidFill>
            <a:srgbClr val="32006E"/>
          </a:solidFill>
          <a:ln w="12700">
            <a:solidFill>
              <a:srgbClr val="3200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41401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OUTCOME / TAKEAWAY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B7A57A">
              <a:alpha val="12000"/>
            </a:srgbClr>
          </a:solidFill>
          <a:ln w="12700">
            <a:solidFill>
              <a:srgbClr val="B7A5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Diagram Canvas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417320"/>
            <a:ext cx="10625328" cy="4526280"/>
          </a:xfrm>
          <a:prstGeom prst="roundRect">
            <a:avLst>
              <a:gd name="adj" fmla="val 808"/>
            </a:avLst>
          </a:prstGeom>
          <a:solidFill>
            <a:srgbClr val="F6F7F8"/>
          </a:solidFill>
          <a:ln w="13970">
            <a:solidFill>
              <a:srgbClr val="C2C6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34156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DIAGRAM CANVAS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" y="1645920"/>
            <a:ext cx="10168128" cy="4069080"/>
          </a:xfrm>
          <a:prstGeom prst="line">
            <a:avLst/>
          </a:prstGeom>
          <a:noFill/>
          <a:ln w="10160">
            <a:solidFill>
              <a:srgbClr val="C2C6CA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46536" y="1645920"/>
            <a:ext cx="-10168128" cy="4069080"/>
          </a:xfrm>
          <a:prstGeom prst="line">
            <a:avLst/>
          </a:prstGeom>
          <a:noFill/>
          <a:ln w="10160">
            <a:solidFill>
              <a:srgbClr val="C2C6CA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54480" y="2971800"/>
            <a:ext cx="868680" cy="868680"/>
          </a:xfrm>
          <a:prstGeom prst="ellipse">
            <a:avLst/>
          </a:prstGeom>
          <a:solidFill>
            <a:srgbClr val="4B2E8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32735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N1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14600" y="3410712"/>
            <a:ext cx="1463040" cy="0"/>
          </a:xfrm>
          <a:prstGeom prst="line">
            <a:avLst/>
          </a:prstGeom>
          <a:noFill/>
          <a:ln w="17780">
            <a:solidFill>
              <a:srgbClr val="555A5E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114800" y="2971800"/>
            <a:ext cx="868680" cy="868680"/>
          </a:xfrm>
          <a:prstGeom prst="ellipse">
            <a:avLst/>
          </a:prstGeom>
          <a:solidFill>
            <a:srgbClr val="85754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32735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N2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410712"/>
            <a:ext cx="1463040" cy="0"/>
          </a:xfrm>
          <a:prstGeom prst="line">
            <a:avLst/>
          </a:prstGeom>
          <a:noFill/>
          <a:ln w="17780">
            <a:solidFill>
              <a:srgbClr val="555A5E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0" y="2971800"/>
            <a:ext cx="868680" cy="868680"/>
          </a:xfrm>
          <a:prstGeom prst="ellipse">
            <a:avLst/>
          </a:prstGeom>
          <a:solidFill>
            <a:srgbClr val="1FB8B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2735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N3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35240" y="3410712"/>
            <a:ext cx="1463040" cy="0"/>
          </a:xfrm>
          <a:prstGeom prst="line">
            <a:avLst/>
          </a:prstGeom>
          <a:noFill/>
          <a:ln w="17780">
            <a:solidFill>
              <a:srgbClr val="555A5E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235440" y="2971800"/>
            <a:ext cx="868680" cy="868680"/>
          </a:xfrm>
          <a:prstGeom prst="ellipse">
            <a:avLst/>
          </a:prstGeom>
          <a:solidFill>
            <a:srgbClr val="32006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32735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N4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B2E83">
              <a:alpha val="6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89788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8632" y="588416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93224" y="587044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57816" y="585673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584301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582930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581558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16184" y="580186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0776" y="578815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45368" y="5774436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5760720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4552" y="5747004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9144" y="5733288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03736" y="5719572"/>
            <a:ext cx="45720" cy="1143000"/>
          </a:xfrm>
          <a:prstGeom prst="parallelogram">
            <a:avLst/>
          </a:prstGeom>
          <a:solidFill>
            <a:srgbClr val="4B2E83">
              <a:alpha val="8000"/>
            </a:srgbClr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5754D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19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694944"/>
            <a:ext cx="118872" cy="329184"/>
          </a:xfrm>
          <a:prstGeom prst="parallelogram">
            <a:avLst/>
          </a:prstGeom>
          <a:solidFill>
            <a:srgbClr val="4B2E83"/>
          </a:solidFill>
          <a:ln w="12700">
            <a:solidFill>
              <a:srgbClr val="4B2E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1264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2E83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" y="1216152"/>
            <a:ext cx="10881360" cy="0"/>
          </a:xfrm>
          <a:prstGeom prst="line">
            <a:avLst/>
          </a:prstGeom>
          <a:noFill/>
          <a:ln w="21590">
            <a:solidFill>
              <a:srgbClr val="B7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1508760"/>
            <a:ext cx="320040" cy="32004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5880" y="1435608"/>
            <a:ext cx="98298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1527048"/>
            <a:ext cx="9500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TAKEAWAY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" y="2331720"/>
            <a:ext cx="320040" cy="320040"/>
          </a:xfrm>
          <a:prstGeom prst="ellipse">
            <a:avLst/>
          </a:prstGeom>
          <a:solidFill>
            <a:srgbClr val="8575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5880" y="2258568"/>
            <a:ext cx="9829800" cy="475488"/>
          </a:xfrm>
          <a:prstGeom prst="roundRect">
            <a:avLst>
              <a:gd name="adj" fmla="val 7692"/>
            </a:avLst>
          </a:prstGeom>
          <a:solidFill>
            <a:srgbClr val="F9F7F2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90472" y="2350008"/>
            <a:ext cx="9500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TAKEAWAY 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" y="3154680"/>
            <a:ext cx="320040" cy="32004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3081528"/>
            <a:ext cx="98298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90472" y="3172968"/>
            <a:ext cx="9500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TAKEAWAY 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1248" y="3977640"/>
            <a:ext cx="320040" cy="320040"/>
          </a:xfrm>
          <a:prstGeom prst="ellipse">
            <a:avLst/>
          </a:prstGeom>
          <a:solidFill>
            <a:srgbClr val="8575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5880" y="3904488"/>
            <a:ext cx="9829800" cy="475488"/>
          </a:xfrm>
          <a:prstGeom prst="roundRect">
            <a:avLst>
              <a:gd name="adj" fmla="val 7692"/>
            </a:avLst>
          </a:prstGeom>
          <a:solidFill>
            <a:srgbClr val="F9F7F2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3995928"/>
            <a:ext cx="9500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TAKEAWAY 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" y="4800600"/>
            <a:ext cx="320040" cy="32004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25880" y="4727448"/>
            <a:ext cx="98298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D5D8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4818888"/>
            <a:ext cx="9500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555A5E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TAKEAWAY 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0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038"/>
          </a:solidFill>
          <a:ln w="12700">
            <a:solidFill>
              <a:srgbClr val="1A0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006E">
              <a:alpha val="82000"/>
            </a:srgbClr>
          </a:solidFill>
          <a:ln w="12700">
            <a:solidFill>
              <a:srgbClr val="3200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594360"/>
            <a:ext cx="2743200" cy="2743200"/>
          </a:xfrm>
          <a:prstGeom prst="arc">
            <a:avLst/>
          </a:prstGeom>
          <a:solidFill>
            <a:srgbClr val="2AD2C9">
              <a:alpha val="14000"/>
            </a:srgbClr>
          </a:solidFill>
          <a:ln w="12700">
            <a:solidFill>
              <a:srgbClr val="2AD2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144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904" y="12344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2208" y="15544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68512" y="18745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14816" y="21945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25146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07424" y="28346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53728" y="31546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00032" y="34747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46336" y="37947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41148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38944" y="44348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85248" y="47548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31552" y="50749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77856" y="53949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0" y="57150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70464" y="60350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16768" y="63550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63072" y="66751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09376" y="69951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0" y="73152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01984" y="763524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48288" y="795528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94592" y="827532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40896" y="859536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0" y="891540"/>
            <a:ext cx="41148" cy="6492240"/>
          </a:xfrm>
          <a:prstGeom prst="parallelogram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B7A57A"/>
          </a:solidFill>
          <a:ln w="12700">
            <a:solidFill>
              <a:srgbClr val="B7A5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365760" y="5870448"/>
            <a:ext cx="12984480" cy="411480"/>
          </a:xfrm>
          <a:prstGeom prst="parallelogram">
            <a:avLst/>
          </a:prstGeom>
          <a:solidFill>
            <a:srgbClr val="B7A57A"/>
          </a:solidFill>
          <a:ln w="12700">
            <a:solidFill>
              <a:srgbClr val="B7A57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2286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7A57A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UW SSEC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1325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8FE9E4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182880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Closing Slide</a:t>
            </a:r>
            <a:endParaRPr lang="en-US" sz="5000" dirty="0"/>
          </a:p>
        </p:txBody>
      </p:sp>
      <p:sp>
        <p:nvSpPr>
          <p:cNvPr id="36" name="Shape 34"/>
          <p:cNvSpPr/>
          <p:nvPr/>
        </p:nvSpPr>
        <p:spPr>
          <a:xfrm>
            <a:off x="566928" y="3090672"/>
            <a:ext cx="1005840" cy="73152"/>
          </a:xfrm>
          <a:prstGeom prst="parallelogram">
            <a:avLst/>
          </a:prstGeom>
          <a:solidFill>
            <a:srgbClr val="2AD2C9"/>
          </a:solidFill>
          <a:ln w="12700">
            <a:solidFill>
              <a:srgbClr val="2AD2C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429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E3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Questions, next steps, or contact details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566928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1A0038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Scientific Software Engineering Center - UW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01400" y="6492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0038"/>
                </a:solidFill>
                <a:latin typeface="Encode Sans Compressed" pitchFamily="34" charset="0"/>
                <a:ea typeface="Encode Sans Compressed" pitchFamily="34" charset="-122"/>
                <a:cs typeface="Encode Sans Compressed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ncode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Scientific Software Engineering Center, 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CS4Env LLMoxie SSEC Template Deck</dc:title>
  <dc:subject>CS4Env LLMoxie editable SSEC slide templates</dc:subject>
  <dc:creator>UW SSEC</dc:creator>
  <cp:lastModifiedBy>UW SSEC</cp:lastModifiedBy>
  <cp:revision>1</cp:revision>
  <dcterms:created xsi:type="dcterms:W3CDTF">2026-05-19T02:59:06Z</dcterms:created>
  <dcterms:modified xsi:type="dcterms:W3CDTF">2026-05-19T02:59:06Z</dcterms:modified>
</cp:coreProperties>
</file>